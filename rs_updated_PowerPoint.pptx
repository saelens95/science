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8" r:id="rId1"/>
  </p:sldMasterIdLst>
  <p:notesMasterIdLst>
    <p:notesMasterId r:id="rId12"/>
  </p:notesMasterIdLst>
  <p:handoutMasterIdLst>
    <p:handoutMasterId r:id="rId13"/>
  </p:handoutMasterIdLst>
  <p:sldIdLst>
    <p:sldId id="271" r:id="rId2"/>
    <p:sldId id="273" r:id="rId3"/>
    <p:sldId id="274" r:id="rId4"/>
    <p:sldId id="272" r:id="rId5"/>
    <p:sldId id="275" r:id="rId6"/>
    <p:sldId id="276" r:id="rId7"/>
    <p:sldId id="278" r:id="rId8"/>
    <p:sldId id="277" r:id="rId9"/>
    <p:sldId id="279" r:id="rId10"/>
    <p:sldId id="281" r:id="rId11"/>
  </p:sldIdLst>
  <p:sldSz cx="12192000" cy="6858000"/>
  <p:notesSz cx="6858000" cy="9144000"/>
  <p:embeddedFontLst>
    <p:embeddedFont>
      <p:font typeface="Cambria Math" panose="02040503050406030204" pitchFamily="18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102E"/>
    <a:srgbClr val="AF0000"/>
    <a:srgbClr val="BF2B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 autoAdjust="0"/>
    <p:restoredTop sz="86218" autoAdjust="0"/>
  </p:normalViewPr>
  <p:slideViewPr>
    <p:cSldViewPr>
      <p:cViewPr varScale="1">
        <p:scale>
          <a:sx n="109" d="100"/>
          <a:sy n="109" d="100"/>
        </p:scale>
        <p:origin x="216" y="600"/>
      </p:cViewPr>
      <p:guideLst>
        <p:guide orient="horz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56" d="100"/>
          <a:sy n="56" d="100"/>
        </p:scale>
        <p:origin x="-253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A00E0-8A82-468F-9B2B-F8EB4AB6399D}" type="datetimeFigureOut">
              <a:rPr lang="en-US" smtClean="0"/>
              <a:t>4/26/24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C4D65-DA11-4126-9556-9310B89565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3772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F7AD5-1E06-481F-9C05-C3A40CB42C63}" type="datetimeFigureOut">
              <a:rPr lang="en-US" smtClean="0"/>
              <a:t>4/26/24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F22EF-CF13-4EA3-BA93-BBE40C1538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35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n>
                <a:noFill/>
              </a:ln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1"/>
            <a:ext cx="12192000" cy="1194329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n>
                <a:noFill/>
              </a:ln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00" y="3733800"/>
            <a:ext cx="10566400" cy="1219200"/>
          </a:xfrm>
        </p:spPr>
        <p:txBody>
          <a:bodyPr anchor="b"/>
          <a:lstStyle>
            <a:lvl1pPr algn="ctr">
              <a:defRPr sz="3600">
                <a:solidFill>
                  <a:srgbClr val="C8102E"/>
                </a:solidFill>
              </a:defRPr>
            </a:lvl1pPr>
          </a:lstStyle>
          <a:p>
            <a:r>
              <a:rPr lang="en-US" dirty="0"/>
              <a:t>Click here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600" y="5134240"/>
            <a:ext cx="8737600" cy="804862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20"/>
          <a:stretch/>
        </p:blipFill>
        <p:spPr>
          <a:xfrm>
            <a:off x="4344455" y="358251"/>
            <a:ext cx="3299890" cy="2689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29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104648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4/26/24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0584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828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head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981200"/>
            <a:ext cx="10138129" cy="4114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4/26/24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71600"/>
            <a:ext cx="10160000" cy="533400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C8102E"/>
                </a:solidFill>
              </a:defRPr>
            </a:lvl1pPr>
          </a:lstStyle>
          <a:p>
            <a:pPr lvl="0"/>
            <a:r>
              <a:rPr lang="en-US" dirty="0"/>
              <a:t>Sub-Header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3295786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47800"/>
            <a:ext cx="5384800" cy="46783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384800" cy="46783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4/26/24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151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24002"/>
            <a:ext cx="5384800" cy="2133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524002"/>
            <a:ext cx="5384800" cy="2133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4/26/24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3"/>
          </p:nvPr>
        </p:nvSpPr>
        <p:spPr>
          <a:xfrm>
            <a:off x="609600" y="3810001"/>
            <a:ext cx="5384800" cy="2133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6197600" y="3810001"/>
            <a:ext cx="5384800" cy="213359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5224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352550"/>
            <a:ext cx="5127313" cy="63976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C8102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1" y="1992312"/>
            <a:ext cx="512731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88568" y="1352550"/>
            <a:ext cx="5084233" cy="63976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C8102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88568" y="1992312"/>
            <a:ext cx="50842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4/26/24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0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4/26/24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0080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08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A6A54-2A6B-4242-B691-C4DE4231F394}" type="datetimeFigureOut">
              <a:rPr lang="en-US" smtClean="0"/>
              <a:t>4/26/24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ED1A7-FB98-43FD-AA3D-E7C3EC56B2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07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n>
                <a:noFill/>
              </a:ln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C8102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ln>
                <a:noFill/>
              </a:ln>
              <a:effectLst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0584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1600"/>
            <a:ext cx="109728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8000" y="6340476"/>
            <a:ext cx="121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176A6A54-2A6B-4242-B691-C4DE4231F394}" type="datetimeFigureOut">
              <a:rPr lang="en-US" smtClean="0"/>
              <a:pPr/>
              <a:t>4/26/24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55200" y="6324601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B2FED1A7-FB98-43FD-AA3D-E7C3EC56B29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381000"/>
            <a:ext cx="678610" cy="118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78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6" r:id="rId3"/>
    <p:sldLayoutId id="2147483661" r:id="rId4"/>
    <p:sldLayoutId id="2147483665" r:id="rId5"/>
    <p:sldLayoutId id="2147483662" r:id="rId6"/>
    <p:sldLayoutId id="2147483663" r:id="rId7"/>
    <p:sldLayoutId id="2147483664" r:id="rId8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+mj-lt"/>
          <a:ea typeface="Roboto Slab" pitchFamily="2" charset="0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Quantum Electrodynamic Effects in Multi-</a:t>
            </a:r>
            <a:r>
              <a:rPr lang="en-US" dirty="0" err="1"/>
              <a:t>TeV</a:t>
            </a:r>
            <a:r>
              <a:rPr lang="en-US" dirty="0"/>
              <a:t> Scale e-e+ Collisions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625600" y="5134240"/>
            <a:ext cx="8737600" cy="1418960"/>
          </a:xfrm>
        </p:spPr>
        <p:txBody>
          <a:bodyPr>
            <a:normAutofit/>
          </a:bodyPr>
          <a:lstStyle/>
          <a:p>
            <a:r>
              <a:rPr lang="en-US" dirty="0"/>
              <a:t>PHYS 498</a:t>
            </a:r>
          </a:p>
          <a:p>
            <a:r>
              <a:rPr lang="en-US" dirty="0"/>
              <a:t>Ryan Saelens | Dr. Piot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E57560-5E8C-8BD5-1F8A-68929E88177E}"/>
              </a:ext>
            </a:extLst>
          </p:cNvPr>
          <p:cNvSpPr txBox="1"/>
          <p:nvPr/>
        </p:nvSpPr>
        <p:spPr>
          <a:xfrm>
            <a:off x="9982200" y="6324600"/>
            <a:ext cx="257556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Apr. 25, 2024</a:t>
            </a:r>
          </a:p>
        </p:txBody>
      </p:sp>
    </p:spTree>
    <p:extLst>
      <p:ext uri="{BB962C8B-B14F-4D97-AF65-F5344CB8AC3E}">
        <p14:creationId xmlns:p14="http://schemas.microsoft.com/office/powerpoint/2010/main" val="239249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B21840-0CF6-4D44-8412-C6E689FF1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05000"/>
            <a:ext cx="10464800" cy="3733800"/>
          </a:xfrm>
        </p:spPr>
        <p:txBody>
          <a:bodyPr>
            <a:normAutofit fontScale="92500"/>
          </a:bodyPr>
          <a:lstStyle/>
          <a:p>
            <a:r>
              <a:rPr lang="en-US" dirty="0"/>
              <a:t>What is a linear e-e+ collider?</a:t>
            </a:r>
          </a:p>
          <a:p>
            <a:r>
              <a:rPr lang="en-US" dirty="0"/>
              <a:t>Advanced LInear Collider (ALIC): linear e-e+ collider with a 10TeV COM energy</a:t>
            </a:r>
          </a:p>
          <a:p>
            <a:r>
              <a:rPr lang="en-US" dirty="0"/>
              <a:t>Measuring Performance: Luminosity</a:t>
            </a:r>
          </a:p>
          <a:p>
            <a:r>
              <a:rPr lang="en-US" dirty="0"/>
              <a:t>Potential collision challenges</a:t>
            </a:r>
          </a:p>
          <a:p>
            <a:pPr lvl="2"/>
            <a:r>
              <a:rPr lang="en-US" dirty="0"/>
              <a:t>i.e., </a:t>
            </a:r>
            <a:r>
              <a:rPr lang="en-US" i="1" dirty="0"/>
              <a:t>Quantum Electrodynamic Effects, </a:t>
            </a:r>
            <a:r>
              <a:rPr lang="en-US" dirty="0"/>
              <a:t>also known as </a:t>
            </a:r>
            <a:r>
              <a:rPr lang="en-US" i="1" dirty="0"/>
              <a:t>Beam-Beam Effects</a:t>
            </a:r>
          </a:p>
          <a:p>
            <a:r>
              <a:rPr lang="en-US" dirty="0"/>
              <a:t>Our current progress</a:t>
            </a:r>
          </a:p>
          <a:p>
            <a:pPr lvl="2"/>
            <a:r>
              <a:rPr lang="en-US" dirty="0"/>
              <a:t>i.e., simulated performances using particle-in-cell framework WarpX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608061-C462-A9B9-CC05-8CE15AB5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Objectives</a:t>
            </a:r>
          </a:p>
        </p:txBody>
      </p:sp>
    </p:spTree>
    <p:extLst>
      <p:ext uri="{BB962C8B-B14F-4D97-AF65-F5344CB8AC3E}">
        <p14:creationId xmlns:p14="http://schemas.microsoft.com/office/powerpoint/2010/main" val="2640218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06C5AB-F348-364F-3190-4416F67F0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600"/>
            <a:ext cx="5181600" cy="2352001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5C4BFA-D818-5ED3-CF1B-6CD31449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linear e-e+ collider?</a:t>
            </a:r>
          </a:p>
        </p:txBody>
      </p:sp>
      <p:pic>
        <p:nvPicPr>
          <p:cNvPr id="5" name="Picture 4" descr="A diagram of a line with text&#10;&#10;Description automatically generated with medium confidence">
            <a:extLst>
              <a:ext uri="{FF2B5EF4-FFF2-40B4-BE49-F238E27FC236}">
                <a16:creationId xmlns:a16="http://schemas.microsoft.com/office/drawing/2014/main" id="{7A8834ED-70F6-59B3-E72D-F2D02F70E8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14"/>
          <a:stretch/>
        </p:blipFill>
        <p:spPr>
          <a:xfrm>
            <a:off x="2057400" y="1371600"/>
            <a:ext cx="7467600" cy="26695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F4E834-A036-F0B3-D5B0-BC63CEE6851C}"/>
              </a:ext>
            </a:extLst>
          </p:cNvPr>
          <p:cNvSpPr txBox="1"/>
          <p:nvPr/>
        </p:nvSpPr>
        <p:spPr>
          <a:xfrm>
            <a:off x="876300" y="4038600"/>
            <a:ext cx="9525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Linear collider that accelerates and collides beams of  electrons (e-) and positrons (e+)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e-e+ collision results in far less noise than hadron collision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Easier to search for rare (new) particles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200" dirty="0"/>
              <a:t>Higgs Boson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200" dirty="0"/>
              <a:t>Dark Matter Particle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DEDDC9-D75C-48C9-B084-950035CB4C7D}"/>
              </a:ext>
            </a:extLst>
          </p:cNvPr>
          <p:cNvSpPr txBox="1"/>
          <p:nvPr/>
        </p:nvSpPr>
        <p:spPr>
          <a:xfrm>
            <a:off x="6407403" y="6382434"/>
            <a:ext cx="5784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u="none" strike="noStrike" kern="100" dirty="0">
                <a:solidFill>
                  <a:schemeClr val="bg1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D. Schulte. Beam-Beam Effects in Linear Colliders. (2017)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435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371600"/>
            <a:ext cx="10464800" cy="4724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Proposed e-e+ collider with a 10TeV COM energy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000" u="sng" dirty="0"/>
              <a:t>What can be expected?</a:t>
            </a:r>
          </a:p>
          <a:p>
            <a:r>
              <a:rPr lang="en-US" dirty="0"/>
              <a:t>Known particles can be measured with greater precision</a:t>
            </a:r>
          </a:p>
          <a:p>
            <a:r>
              <a:rPr lang="en-US" dirty="0"/>
              <a:t>Forces us to explore the behavior of particles at such high energies</a:t>
            </a:r>
          </a:p>
          <a:p>
            <a:pPr lvl="1"/>
            <a:r>
              <a:rPr lang="en-US" dirty="0"/>
              <a:t>Can better study particle interactions at extremely short distances</a:t>
            </a:r>
          </a:p>
          <a:p>
            <a:pPr lvl="1"/>
            <a:r>
              <a:rPr lang="en-US" dirty="0"/>
              <a:t>Can lead to the discovery of new leptons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u="sng" dirty="0"/>
              <a:t>A</a:t>
            </a:r>
            <a:r>
              <a:rPr lang="en-US" dirty="0"/>
              <a:t>dvanced </a:t>
            </a:r>
            <a:r>
              <a:rPr lang="en-US" u="sng" dirty="0"/>
              <a:t>LI</a:t>
            </a:r>
            <a:r>
              <a:rPr lang="en-US" dirty="0"/>
              <a:t>near </a:t>
            </a:r>
            <a:r>
              <a:rPr lang="en-US" u="sng" dirty="0"/>
              <a:t>C</a:t>
            </a:r>
            <a:r>
              <a:rPr lang="en-US" dirty="0"/>
              <a:t>ollider (ALIC)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7E8B7A-1CA8-4032-6C7A-D8EBD9E63C3F}"/>
              </a:ext>
            </a:extLst>
          </p:cNvPr>
          <p:cNvSpPr txBox="1"/>
          <p:nvPr/>
        </p:nvSpPr>
        <p:spPr>
          <a:xfrm>
            <a:off x="4153517" y="6336268"/>
            <a:ext cx="8038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ALEGRO Collaboration. Towards an Advanced Linear International Collider. (2019)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12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DC973CE-5EEE-4887-DE29-80AB63E089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8809" y="1981200"/>
                <a:ext cx="6932591" cy="404932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Luminosity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rate of production over time with cross-section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𝑑𝑁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b="0" dirty="0">
                    <a:ea typeface="Cambria Math" panose="02040503050406030204" pitchFamily="18" charset="0"/>
                  </a:rPr>
                  <a:t>Depends on </a:t>
                </a:r>
                <a:r>
                  <a:rPr lang="en-US" dirty="0">
                    <a:ea typeface="Cambria Math" panose="02040503050406030204" pitchFamily="18" charset="0"/>
                  </a:rPr>
                  <a:t>e-e+ beam parameters</a:t>
                </a:r>
              </a:p>
              <a:p>
                <a:pPr lvl="2"/>
                <a:r>
                  <a:rPr lang="en-US" dirty="0">
                    <a:ea typeface="Cambria Math" panose="02040503050406030204" pitchFamily="18" charset="0"/>
                  </a:rPr>
                  <a:t>Disrupted by various processes</a:t>
                </a:r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DC973CE-5EEE-4887-DE29-80AB63E089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8809" y="1981200"/>
                <a:ext cx="6932591" cy="4049328"/>
              </a:xfrm>
              <a:blipFill>
                <a:blip r:embed="rId2"/>
                <a:stretch>
                  <a:fillRect l="-1645" t="-18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E0649C-0348-0E23-C62A-96CD71B4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Performance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2BF5B09-5816-EE89-3749-786558AEA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2133600"/>
            <a:ext cx="4800600" cy="360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F681F8-0FA9-D074-661C-FEB2F2446DFB}"/>
              </a:ext>
            </a:extLst>
          </p:cNvPr>
          <p:cNvSpPr txBox="1"/>
          <p:nvPr/>
        </p:nvSpPr>
        <p:spPr>
          <a:xfrm>
            <a:off x="7913328" y="6382434"/>
            <a:ext cx="42786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u="none" strike="noStrike" kern="100" dirty="0">
                <a:solidFill>
                  <a:schemeClr val="bg1"/>
                </a:solidFill>
                <a:effectLst/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R. Lehe, J.L. Vay. Plans for WarpX. (2024)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70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9AB893-83EC-3DE0-CAEA-0966B4F48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71599"/>
            <a:ext cx="10464800" cy="2602447"/>
          </a:xfrm>
        </p:spPr>
        <p:txBody>
          <a:bodyPr>
            <a:normAutofit fontScale="55000" lnSpcReduction="20000"/>
          </a:bodyPr>
          <a:lstStyle/>
          <a:p>
            <a:r>
              <a:rPr lang="en-US" sz="3800" dirty="0"/>
              <a:t>Synchrotron Radiation</a:t>
            </a:r>
          </a:p>
          <a:p>
            <a:pPr lvl="1"/>
            <a:r>
              <a:rPr lang="en-US" sz="3300" dirty="0"/>
              <a:t>i.e., </a:t>
            </a:r>
            <a:r>
              <a:rPr lang="en-US" sz="3300" i="1" dirty="0"/>
              <a:t>Beamstrahlung</a:t>
            </a:r>
            <a:r>
              <a:rPr lang="en-US" sz="3300" dirty="0"/>
              <a:t> – though not a QED effect, still needs to be considered</a:t>
            </a:r>
          </a:p>
          <a:p>
            <a:pPr marL="457200" lvl="1" indent="0">
              <a:buNone/>
            </a:pPr>
            <a:endParaRPr lang="en-US" sz="3800" dirty="0"/>
          </a:p>
          <a:p>
            <a:r>
              <a:rPr lang="en-US" sz="3800" dirty="0"/>
              <a:t>QED Effects</a:t>
            </a:r>
          </a:p>
          <a:p>
            <a:pPr lvl="1"/>
            <a:r>
              <a:rPr lang="en-US" sz="3300" dirty="0"/>
              <a:t>Linear Breit-Wheeler</a:t>
            </a:r>
          </a:p>
          <a:p>
            <a:pPr lvl="1"/>
            <a:r>
              <a:rPr lang="en-US" sz="3300" dirty="0"/>
              <a:t>Multiphoton (Non-Linear) Breit-Wheeler</a:t>
            </a:r>
          </a:p>
          <a:p>
            <a:pPr lvl="1"/>
            <a:r>
              <a:rPr lang="en-US" sz="3300" dirty="0"/>
              <a:t>Bethe-</a:t>
            </a:r>
            <a:r>
              <a:rPr lang="en-US" sz="3300" dirty="0" err="1"/>
              <a:t>Heitler</a:t>
            </a:r>
            <a:endParaRPr lang="en-US" sz="3300" dirty="0"/>
          </a:p>
          <a:p>
            <a:pPr lvl="1"/>
            <a:r>
              <a:rPr lang="en-US" sz="3300" dirty="0"/>
              <a:t>Landau-</a:t>
            </a:r>
            <a:r>
              <a:rPr lang="en-US" sz="3300" dirty="0" err="1"/>
              <a:t>Lifshitz</a:t>
            </a:r>
            <a:endParaRPr lang="en-US" sz="3300" dirty="0"/>
          </a:p>
          <a:p>
            <a:pPr lvl="2"/>
            <a:endParaRPr lang="en-US" sz="3300" dirty="0"/>
          </a:p>
          <a:p>
            <a:pPr lvl="1"/>
            <a:endParaRPr lang="en-US" sz="3300" dirty="0"/>
          </a:p>
          <a:p>
            <a:pPr marL="457200" lvl="1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endParaRPr lang="en-US" sz="1800" dirty="0"/>
          </a:p>
          <a:p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4C8B20-1754-27FB-3D7D-1B8DC36BA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Beam-Beam Effects</a:t>
            </a:r>
          </a:p>
        </p:txBody>
      </p:sp>
      <p:pic>
        <p:nvPicPr>
          <p:cNvPr id="4" name="Picture 3" descr="A diagram of a linear structure&#10;&#10;Description automatically generated">
            <a:extLst>
              <a:ext uri="{FF2B5EF4-FFF2-40B4-BE49-F238E27FC236}">
                <a16:creationId xmlns:a16="http://schemas.microsoft.com/office/drawing/2014/main" id="{F32E8C2A-5DED-7223-8C63-6BE08D08EB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8368"/>
          <a:stretch/>
        </p:blipFill>
        <p:spPr>
          <a:xfrm>
            <a:off x="950516" y="4087213"/>
            <a:ext cx="2314733" cy="18515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30E1B0-2C3B-2795-BD97-4E2ABD2589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411"/>
          <a:stretch/>
        </p:blipFill>
        <p:spPr>
          <a:xfrm>
            <a:off x="4101066" y="4087213"/>
            <a:ext cx="2314733" cy="1944218"/>
          </a:xfrm>
          <a:prstGeom prst="rect">
            <a:avLst/>
          </a:prstGeom>
        </p:spPr>
      </p:pic>
      <p:pic>
        <p:nvPicPr>
          <p:cNvPr id="8" name="Picture 7" descr="A diagram of a molecule&#10;&#10;Description automatically generated">
            <a:extLst>
              <a:ext uri="{FF2B5EF4-FFF2-40B4-BE49-F238E27FC236}">
                <a16:creationId xmlns:a16="http://schemas.microsoft.com/office/drawing/2014/main" id="{737FB38C-96CE-29A3-4584-F78FE9DF51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15" b="17474"/>
          <a:stretch/>
        </p:blipFill>
        <p:spPr>
          <a:xfrm>
            <a:off x="6934726" y="4087213"/>
            <a:ext cx="2097054" cy="1851523"/>
          </a:xfrm>
          <a:prstGeom prst="rect">
            <a:avLst/>
          </a:prstGeom>
        </p:spPr>
      </p:pic>
      <p:pic>
        <p:nvPicPr>
          <p:cNvPr id="9" name="Picture 8" descr="A diagram of a diagram of a voltage&#10;&#10;Description automatically generated with medium confidence">
            <a:extLst>
              <a:ext uri="{FF2B5EF4-FFF2-40B4-BE49-F238E27FC236}">
                <a16:creationId xmlns:a16="http://schemas.microsoft.com/office/drawing/2014/main" id="{06C26A2B-9A99-146C-09EC-676B4802AEB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4340"/>
          <a:stretch/>
        </p:blipFill>
        <p:spPr>
          <a:xfrm>
            <a:off x="9395254" y="3974046"/>
            <a:ext cx="2020061" cy="20573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63CB8D-BFE6-264D-5B2D-E9EE77FCD958}"/>
              </a:ext>
            </a:extLst>
          </p:cNvPr>
          <p:cNvSpPr txBox="1"/>
          <p:nvPr/>
        </p:nvSpPr>
        <p:spPr>
          <a:xfrm>
            <a:off x="5258432" y="6391827"/>
            <a:ext cx="6933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 </a:t>
            </a:r>
            <a:r>
              <a:rPr lang="en-US" sz="1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Formenti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First results of beam-beam simulations with WarpX. (2024)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47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2286C2-B5C6-A003-DAD7-588A555BA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Performance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81CE319-2772-F770-376F-14A3BAC8FD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441" y="3506011"/>
            <a:ext cx="4635720" cy="264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3817E9CF-C51F-81D7-19E8-6DE8B39B4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3548751"/>
            <a:ext cx="4486129" cy="2563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D54ADD-214E-A5D5-9762-68439A903130}"/>
              </a:ext>
            </a:extLst>
          </p:cNvPr>
          <p:cNvSpPr txBox="1"/>
          <p:nvPr/>
        </p:nvSpPr>
        <p:spPr>
          <a:xfrm>
            <a:off x="1564439" y="1905726"/>
            <a:ext cx="90631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Simulating QED Effects of e-e+ collisions using WarpX: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3C7D17-B9A3-911D-9FA0-7BAC230CD8B8}"/>
              </a:ext>
            </a:extLst>
          </p:cNvPr>
          <p:cNvSpPr txBox="1"/>
          <p:nvPr/>
        </p:nvSpPr>
        <p:spPr>
          <a:xfrm>
            <a:off x="2186268" y="3378341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Without QED Effects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246146-1AAD-6BCF-2EC3-877C7B9DBF66}"/>
              </a:ext>
            </a:extLst>
          </p:cNvPr>
          <p:cNvSpPr txBox="1"/>
          <p:nvPr/>
        </p:nvSpPr>
        <p:spPr>
          <a:xfrm>
            <a:off x="7696200" y="3429000"/>
            <a:ext cx="197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With QED Effects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5344D7-EE5E-1389-92E5-5AAEADCC1F2E}"/>
              </a:ext>
            </a:extLst>
          </p:cNvPr>
          <p:cNvSpPr txBox="1"/>
          <p:nvPr/>
        </p:nvSpPr>
        <p:spPr>
          <a:xfrm>
            <a:off x="4430878" y="6382434"/>
            <a:ext cx="7734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Cho-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Kuen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Ng, SLAC. Flat Beam (2D Electrostatic Simulations in WarpX. 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(2024)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8473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B3031D-8870-4CFB-7362-5F6E5150F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Simulating Performance Cont’d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BCD2641F-38BC-D8DC-FF64-A0B60668AC4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539" y="3504394"/>
            <a:ext cx="4668661" cy="2667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86894EE4-ABFB-9104-018C-113D648E5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7591" y="3599351"/>
            <a:ext cx="4445000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8E84E4-D0B9-0E21-B7E7-EFE308CF7CBB}"/>
              </a:ext>
            </a:extLst>
          </p:cNvPr>
          <p:cNvSpPr txBox="1"/>
          <p:nvPr/>
        </p:nvSpPr>
        <p:spPr>
          <a:xfrm>
            <a:off x="1564439" y="1920146"/>
            <a:ext cx="906312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u="sng" dirty="0"/>
              <a:t>Simulating QED Effects of e-e+ collisions using WarpX: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B4F388-2164-D30D-096C-96AE615ED2F1}"/>
              </a:ext>
            </a:extLst>
          </p:cNvPr>
          <p:cNvSpPr txBox="1"/>
          <p:nvPr/>
        </p:nvSpPr>
        <p:spPr>
          <a:xfrm>
            <a:off x="2417358" y="3353606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Photon Spread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F66545-237F-526D-041D-8829F409900E}"/>
              </a:ext>
            </a:extLst>
          </p:cNvPr>
          <p:cNvSpPr txBox="1"/>
          <p:nvPr/>
        </p:nvSpPr>
        <p:spPr>
          <a:xfrm>
            <a:off x="7467600" y="3438939"/>
            <a:ext cx="2307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e-e+ Pair-Production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31DCE5-F8B3-1D46-7AE1-FBE7D42236AA}"/>
              </a:ext>
            </a:extLst>
          </p:cNvPr>
          <p:cNvSpPr txBox="1"/>
          <p:nvPr/>
        </p:nvSpPr>
        <p:spPr>
          <a:xfrm>
            <a:off x="4495512" y="6352128"/>
            <a:ext cx="77346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Cho-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Kuen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Ng, SLAC. Flat Beam (2D Electrostatic Simulations in WarpX. 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(2024)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979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7D1AB15-8AF5-24C4-1E19-023DECCC7C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looked at the significance of a linear e-e+ collider</a:t>
                </a:r>
              </a:p>
              <a:p>
                <a:r>
                  <a:rPr lang="en-US" dirty="0"/>
                  <a:t>A collider with a 10TeV COM energy is an important consideration for the research and study of particles and their interactions</a:t>
                </a:r>
              </a:p>
              <a:p>
                <a:r>
                  <a:rPr lang="en-US" dirty="0"/>
                  <a:t>We measure performance based on beam parameters and  luminosity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Addressed the QED that (e-) and (e+) beams experience</a:t>
                </a:r>
              </a:p>
              <a:p>
                <a:r>
                  <a:rPr lang="en-US" dirty="0"/>
                  <a:t>Observed how WarpX can simulate these effects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7D1AB15-8AF5-24C4-1E19-023DECCC7C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1" t="-1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1CC5673-7007-9C95-E184-4D1F0757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997522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86F2-5BBB-389B-7860-2CE1B3B4A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800" y="3124200"/>
            <a:ext cx="10566400" cy="1219200"/>
          </a:xfrm>
        </p:spPr>
        <p:txBody>
          <a:bodyPr/>
          <a:lstStyle/>
          <a:p>
            <a:r>
              <a:rPr lang="en-US" dirty="0"/>
              <a:t>Thank you to the following: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F4EC1-C09B-D631-744B-3A7D393340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7200" y="4648200"/>
            <a:ext cx="8737600" cy="804862"/>
          </a:xfrm>
        </p:spPr>
        <p:txBody>
          <a:bodyPr/>
          <a:lstStyle/>
          <a:p>
            <a:r>
              <a:rPr lang="en-US" dirty="0"/>
              <a:t>Dr. Piot | Dr. </a:t>
            </a:r>
            <a:r>
              <a:rPr lang="en-US" dirty="0" err="1"/>
              <a:t>Chmaissem</a:t>
            </a:r>
            <a:r>
              <a:rPr lang="en-US" dirty="0"/>
              <a:t> | Phys 498 Peers</a:t>
            </a:r>
          </a:p>
        </p:txBody>
      </p:sp>
    </p:spTree>
    <p:extLst>
      <p:ext uri="{BB962C8B-B14F-4D97-AF65-F5344CB8AC3E}">
        <p14:creationId xmlns:p14="http://schemas.microsoft.com/office/powerpoint/2010/main" val="5753121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7301</TotalTime>
  <Words>458</Words>
  <Application>Microsoft Macintosh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Cambria Math</vt:lpstr>
      <vt:lpstr>Calibri</vt:lpstr>
      <vt:lpstr>Arial</vt:lpstr>
      <vt:lpstr>Times New Roman</vt:lpstr>
      <vt:lpstr>1_Office Theme</vt:lpstr>
      <vt:lpstr>Quantum Electrodynamic Effects in Multi-TeV Scale e-e+ Collisions</vt:lpstr>
      <vt:lpstr>Main Objectives</vt:lpstr>
      <vt:lpstr>What is a linear e-e+ collider?</vt:lpstr>
      <vt:lpstr>The Advanced LInear Collider (ALIC)</vt:lpstr>
      <vt:lpstr>Measuring Performance</vt:lpstr>
      <vt:lpstr>Beam-Beam Effects</vt:lpstr>
      <vt:lpstr>Simulating Performance</vt:lpstr>
      <vt:lpstr>Simulating Performance Cont’d</vt:lpstr>
      <vt:lpstr>Conclusion</vt:lpstr>
      <vt:lpstr>Thank you to the following: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Jennice O'Brien</dc:creator>
  <cp:lastModifiedBy>Ryan Saelens</cp:lastModifiedBy>
  <cp:revision>109</cp:revision>
  <dcterms:created xsi:type="dcterms:W3CDTF">2010-05-18T23:17:18Z</dcterms:created>
  <dcterms:modified xsi:type="dcterms:W3CDTF">2024-04-27T11:38:42Z</dcterms:modified>
</cp:coreProperties>
</file>