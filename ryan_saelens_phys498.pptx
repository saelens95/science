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71" r:id="rId2"/>
    <p:sldId id="273" r:id="rId3"/>
    <p:sldId id="274" r:id="rId4"/>
    <p:sldId id="272" r:id="rId5"/>
    <p:sldId id="275" r:id="rId6"/>
    <p:sldId id="276" r:id="rId7"/>
    <p:sldId id="278" r:id="rId8"/>
    <p:sldId id="277" r:id="rId9"/>
    <p:sldId id="279" r:id="rId10"/>
    <p:sldId id="281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AF0000"/>
    <a:srgbClr val="BF2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588" autoAdjust="0"/>
    <p:restoredTop sz="86218" autoAdjust="0"/>
  </p:normalViewPr>
  <p:slideViewPr>
    <p:cSldViewPr>
      <p:cViewPr>
        <p:scale>
          <a:sx n="64" d="100"/>
          <a:sy n="64" d="100"/>
        </p:scale>
        <p:origin x="184" y="1456"/>
      </p:cViewPr>
      <p:guideLst>
        <p:guide orient="horz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6" d="100"/>
          <a:sy n="56" d="100"/>
        </p:scale>
        <p:origin x="-253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A00E0-8A82-468F-9B2B-F8EB4AB6399D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C4D65-DA11-4126-9556-9310B8956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7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F7AD5-1E06-481F-9C05-C3A40CB42C63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F22EF-CF13-4EA3-BA93-BBE40C15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94329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00" y="3733800"/>
            <a:ext cx="10566400" cy="1219200"/>
          </a:xfrm>
        </p:spPr>
        <p:txBody>
          <a:bodyPr anchor="b"/>
          <a:lstStyle>
            <a:lvl1pPr algn="ctr">
              <a:defRPr sz="3600">
                <a:solidFill>
                  <a:srgbClr val="C8102E"/>
                </a:solidFill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34240"/>
            <a:ext cx="8737600" cy="80486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0"/>
          <a:stretch/>
        </p:blipFill>
        <p:spPr>
          <a:xfrm>
            <a:off x="4344455" y="358251"/>
            <a:ext cx="3299890" cy="26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4648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981200"/>
            <a:ext cx="10138129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71600"/>
            <a:ext cx="10160000" cy="533400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C8102E"/>
                </a:solidFill>
              </a:defRPr>
            </a:lvl1pPr>
          </a:lstStyle>
          <a:p>
            <a:pPr lvl="0"/>
            <a:r>
              <a:rPr lang="en-US" dirty="0"/>
              <a:t>Sub-Header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9578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151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609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197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22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52550"/>
            <a:ext cx="512731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92312"/>
            <a:ext cx="51273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8568" y="1352550"/>
            <a:ext cx="508423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8568" y="1992312"/>
            <a:ext cx="50842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0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0080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0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4/19/24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80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76A6A54-2A6B-4242-B691-C4DE4231F394}" type="datetimeFigureOut">
              <a:rPr lang="en-US" smtClean="0"/>
              <a:pPr/>
              <a:t>4/19/24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55200" y="6324601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81000"/>
            <a:ext cx="678610" cy="11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6" r:id="rId3"/>
    <p:sldLayoutId id="2147483661" r:id="rId4"/>
    <p:sldLayoutId id="2147483665" r:id="rId5"/>
    <p:sldLayoutId id="2147483662" r:id="rId6"/>
    <p:sldLayoutId id="2147483663" r:id="rId7"/>
    <p:sldLayoutId id="2147483664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QED Effects in Multi-</a:t>
            </a:r>
            <a:r>
              <a:rPr lang="en-US" dirty="0" err="1"/>
              <a:t>TeV</a:t>
            </a:r>
            <a:r>
              <a:rPr lang="en-US" dirty="0"/>
              <a:t> Scale </a:t>
            </a:r>
            <a:r>
              <a:rPr lang="en-US" dirty="0" err="1"/>
              <a:t>e+e</a:t>
            </a:r>
            <a:r>
              <a:rPr lang="en-US" dirty="0"/>
              <a:t>- Collisions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Ryan Saelens | Dr. Philippe Piot</a:t>
            </a:r>
          </a:p>
          <a:p>
            <a:r>
              <a:rPr lang="en-US" b="0" dirty="0"/>
              <a:t>							          Apr. 19, 24</a:t>
            </a:r>
          </a:p>
        </p:txBody>
      </p:sp>
    </p:spTree>
    <p:extLst>
      <p:ext uri="{BB962C8B-B14F-4D97-AF65-F5344CB8AC3E}">
        <p14:creationId xmlns:p14="http://schemas.microsoft.com/office/powerpoint/2010/main" val="239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21840-0CF6-4D44-8412-C6E689FF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5000"/>
            <a:ext cx="10464800" cy="3733800"/>
          </a:xfrm>
        </p:spPr>
        <p:txBody>
          <a:bodyPr/>
          <a:lstStyle/>
          <a:p>
            <a:r>
              <a:rPr lang="en-US" dirty="0"/>
              <a:t>What is an e-e+ (lepton) collider?</a:t>
            </a:r>
          </a:p>
          <a:p>
            <a:r>
              <a:rPr lang="en-US" dirty="0"/>
              <a:t>ALIC – an e-e+ collider with a COM energy of 10TeV</a:t>
            </a:r>
          </a:p>
          <a:p>
            <a:r>
              <a:rPr lang="en-US" dirty="0"/>
              <a:t>Measuring Performance</a:t>
            </a:r>
          </a:p>
          <a:p>
            <a:r>
              <a:rPr lang="en-US" dirty="0"/>
              <a:t>Potential collision challenges</a:t>
            </a:r>
          </a:p>
          <a:p>
            <a:pPr lvl="2"/>
            <a:r>
              <a:rPr lang="en-US" dirty="0"/>
              <a:t>i.e., </a:t>
            </a:r>
            <a:r>
              <a:rPr lang="en-US" i="1" dirty="0"/>
              <a:t>beam-beam effects </a:t>
            </a:r>
            <a:r>
              <a:rPr lang="en-US" dirty="0"/>
              <a:t>or </a:t>
            </a:r>
            <a:r>
              <a:rPr lang="en-US" i="1" dirty="0"/>
              <a:t>QED effects </a:t>
            </a:r>
          </a:p>
          <a:p>
            <a:r>
              <a:rPr lang="en-US" dirty="0"/>
              <a:t>Our current progress</a:t>
            </a:r>
          </a:p>
          <a:p>
            <a:pPr lvl="2"/>
            <a:r>
              <a:rPr lang="en-US" dirty="0"/>
              <a:t>i.e., simulating performance using WarpX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608061-C462-A9B9-CC05-8CE15AB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Objectives</a:t>
            </a:r>
          </a:p>
        </p:txBody>
      </p:sp>
    </p:spTree>
    <p:extLst>
      <p:ext uri="{BB962C8B-B14F-4D97-AF65-F5344CB8AC3E}">
        <p14:creationId xmlns:p14="http://schemas.microsoft.com/office/powerpoint/2010/main" val="264021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6C5AB-F348-364F-3190-4416F67F0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5181600" cy="235200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5C4BFA-D818-5ED3-CF1B-6CD31449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e+e- collider?</a:t>
            </a:r>
          </a:p>
        </p:txBody>
      </p:sp>
      <p:pic>
        <p:nvPicPr>
          <p:cNvPr id="5" name="Picture 4" descr="A diagram of a line with text&#10;&#10;Description automatically generated with medium confidence">
            <a:extLst>
              <a:ext uri="{FF2B5EF4-FFF2-40B4-BE49-F238E27FC236}">
                <a16:creationId xmlns:a16="http://schemas.microsoft.com/office/drawing/2014/main" id="{7A8834ED-70F6-59B3-E72D-F2D02F70E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4"/>
          <a:stretch/>
        </p:blipFill>
        <p:spPr>
          <a:xfrm>
            <a:off x="2057400" y="1371600"/>
            <a:ext cx="7467600" cy="2669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F4E834-A036-F0B3-D5B0-BC63CEE6851C}"/>
              </a:ext>
            </a:extLst>
          </p:cNvPr>
          <p:cNvSpPr txBox="1"/>
          <p:nvPr/>
        </p:nvSpPr>
        <p:spPr>
          <a:xfrm>
            <a:off x="876300" y="4038600"/>
            <a:ext cx="9525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Machine that accelerates and collides beams of leptons – i.e. </a:t>
            </a:r>
            <a:r>
              <a:rPr lang="en-US" sz="2200" i="1" dirty="0"/>
              <a:t>electrons</a:t>
            </a:r>
            <a:r>
              <a:rPr lang="en-US" sz="2200" dirty="0"/>
              <a:t> and </a:t>
            </a:r>
            <a:r>
              <a:rPr lang="en-US" sz="2200" i="1" dirty="0"/>
              <a:t>positrons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Collision results in far less noise than hadron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Easier to search for rare (new) particles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200" dirty="0"/>
              <a:t>Higgs Boson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200" dirty="0"/>
              <a:t>Dark Matter Particle</a:t>
            </a:r>
          </a:p>
        </p:txBody>
      </p:sp>
    </p:spTree>
    <p:extLst>
      <p:ext uri="{BB962C8B-B14F-4D97-AF65-F5344CB8AC3E}">
        <p14:creationId xmlns:p14="http://schemas.microsoft.com/office/powerpoint/2010/main" val="66843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371600"/>
            <a:ext cx="10464800" cy="4495800"/>
          </a:xfrm>
        </p:spPr>
        <p:txBody>
          <a:bodyPr/>
          <a:lstStyle/>
          <a:p>
            <a:r>
              <a:rPr lang="en-US" dirty="0"/>
              <a:t>The Advanced Linear International Collider </a:t>
            </a:r>
          </a:p>
          <a:p>
            <a:pPr lvl="1"/>
            <a:r>
              <a:rPr lang="en-US" dirty="0"/>
              <a:t>Proposed e+e- collider with a 10TeV COM energy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What can be expected?</a:t>
            </a:r>
          </a:p>
          <a:p>
            <a:r>
              <a:rPr lang="en-US" dirty="0"/>
              <a:t>Known particles an be measured with greater precision</a:t>
            </a:r>
          </a:p>
          <a:p>
            <a:r>
              <a:rPr lang="en-US" dirty="0"/>
              <a:t>Forces us to explore the behavior (interactions) of particles at such high energies</a:t>
            </a:r>
          </a:p>
          <a:p>
            <a:r>
              <a:rPr lang="en-US" dirty="0"/>
              <a:t>Certain theories predict the existence of new particles and interactions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ALIC--&gt; photo of ALIC!!!!!</a:t>
            </a:r>
          </a:p>
        </p:txBody>
      </p:sp>
    </p:spTree>
    <p:extLst>
      <p:ext uri="{BB962C8B-B14F-4D97-AF65-F5344CB8AC3E}">
        <p14:creationId xmlns:p14="http://schemas.microsoft.com/office/powerpoint/2010/main" val="39741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DC973CE-5EEE-4887-DE29-80AB63E08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809" y="1676399"/>
                <a:ext cx="6932591" cy="435412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Luminosity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measurement of collision events over small amount of time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Depends on cross-section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Integrated Luminosity: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measurement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over a defined time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Goal: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𝑠𝑒𝑐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DC973CE-5EEE-4887-DE29-80AB63E08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809" y="1676399"/>
                <a:ext cx="6932591" cy="4354129"/>
              </a:xfrm>
              <a:blipFill>
                <a:blip r:embed="rId2"/>
                <a:stretch>
                  <a:fillRect l="-1645" t="-2624" r="-1645" b="-13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E0649C-0348-0E23-C62A-96CD71B4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Performance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2BF5B09-5816-EE89-3749-786558AE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430080"/>
            <a:ext cx="4800600" cy="36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70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9AB893-83EC-3DE0-CAEA-0966B4F48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599"/>
            <a:ext cx="10464800" cy="2602447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Synchrotron Radiation</a:t>
            </a:r>
          </a:p>
          <a:p>
            <a:pPr lvl="1"/>
            <a:r>
              <a:rPr lang="en-US" sz="3300" dirty="0"/>
              <a:t>i.e., </a:t>
            </a:r>
            <a:r>
              <a:rPr lang="en-US" sz="3300" i="1" dirty="0"/>
              <a:t>Beamstrahlung</a:t>
            </a:r>
            <a:r>
              <a:rPr lang="en-US" sz="3300" dirty="0"/>
              <a:t> – though not a QED effect, still needs to be considered</a:t>
            </a:r>
          </a:p>
          <a:p>
            <a:pPr marL="457200" lvl="1" indent="0">
              <a:buNone/>
            </a:pPr>
            <a:endParaRPr lang="en-US" sz="3800" dirty="0"/>
          </a:p>
          <a:p>
            <a:r>
              <a:rPr lang="en-US" sz="3800" dirty="0"/>
              <a:t>QED Effects</a:t>
            </a:r>
          </a:p>
          <a:p>
            <a:pPr lvl="1"/>
            <a:r>
              <a:rPr lang="en-US" sz="3300" dirty="0"/>
              <a:t>Linear Breit-Wheeler</a:t>
            </a:r>
          </a:p>
          <a:p>
            <a:pPr lvl="1"/>
            <a:r>
              <a:rPr lang="en-US" sz="3300" dirty="0"/>
              <a:t>Multiphoton (Non-Linear) Breit-Wheeler</a:t>
            </a:r>
          </a:p>
          <a:p>
            <a:pPr lvl="1"/>
            <a:r>
              <a:rPr lang="en-US" sz="3300" dirty="0"/>
              <a:t>Bethe-</a:t>
            </a:r>
            <a:r>
              <a:rPr lang="en-US" sz="3300" dirty="0" err="1"/>
              <a:t>Heitler</a:t>
            </a:r>
            <a:endParaRPr lang="en-US" sz="3300" dirty="0"/>
          </a:p>
          <a:p>
            <a:pPr lvl="1"/>
            <a:r>
              <a:rPr lang="en-US" sz="3300" dirty="0"/>
              <a:t>Landau-</a:t>
            </a:r>
            <a:r>
              <a:rPr lang="en-US" sz="3300" dirty="0" err="1"/>
              <a:t>Lifshitz</a:t>
            </a:r>
            <a:endParaRPr lang="en-US" sz="3300" dirty="0"/>
          </a:p>
          <a:p>
            <a:pPr lvl="2"/>
            <a:endParaRPr lang="en-US" sz="3300" dirty="0"/>
          </a:p>
          <a:p>
            <a:pPr lvl="1"/>
            <a:endParaRPr lang="en-US" sz="33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4C8B20-1754-27FB-3D7D-1B8DC36B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Beam-Beam Effects</a:t>
            </a:r>
          </a:p>
        </p:txBody>
      </p:sp>
      <p:pic>
        <p:nvPicPr>
          <p:cNvPr id="4" name="Picture 3" descr="A diagram of a linear structure&#10;&#10;Description automatically generated">
            <a:extLst>
              <a:ext uri="{FF2B5EF4-FFF2-40B4-BE49-F238E27FC236}">
                <a16:creationId xmlns:a16="http://schemas.microsoft.com/office/drawing/2014/main" id="{F32E8C2A-5DED-7223-8C63-6BE08D08E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368"/>
          <a:stretch/>
        </p:blipFill>
        <p:spPr>
          <a:xfrm>
            <a:off x="950516" y="4087213"/>
            <a:ext cx="2314733" cy="1851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30E1B0-2C3B-2795-BD97-4E2ABD2589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411"/>
          <a:stretch/>
        </p:blipFill>
        <p:spPr>
          <a:xfrm>
            <a:off x="4101066" y="4087213"/>
            <a:ext cx="2314733" cy="1944218"/>
          </a:xfrm>
          <a:prstGeom prst="rect">
            <a:avLst/>
          </a:prstGeom>
        </p:spPr>
      </p:pic>
      <p:pic>
        <p:nvPicPr>
          <p:cNvPr id="8" name="Picture 7" descr="A diagram of a molecule&#10;&#10;Description automatically generated">
            <a:extLst>
              <a:ext uri="{FF2B5EF4-FFF2-40B4-BE49-F238E27FC236}">
                <a16:creationId xmlns:a16="http://schemas.microsoft.com/office/drawing/2014/main" id="{737FB38C-96CE-29A3-4584-F78FE9DF51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5" b="17474"/>
          <a:stretch/>
        </p:blipFill>
        <p:spPr>
          <a:xfrm>
            <a:off x="6934726" y="4087213"/>
            <a:ext cx="2097054" cy="1851523"/>
          </a:xfrm>
          <a:prstGeom prst="rect">
            <a:avLst/>
          </a:prstGeom>
        </p:spPr>
      </p:pic>
      <p:pic>
        <p:nvPicPr>
          <p:cNvPr id="9" name="Picture 8" descr="A diagram of 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6C26A2B-9A99-146C-09EC-676B4802AE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4340"/>
          <a:stretch/>
        </p:blipFill>
        <p:spPr>
          <a:xfrm>
            <a:off x="9395254" y="3974046"/>
            <a:ext cx="2020061" cy="205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2286C2-B5C6-A003-DAD7-588A555B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Performance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1CE319-2772-F770-376F-14A3BAC8FD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41" y="3506011"/>
            <a:ext cx="4635720" cy="264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817E9CF-C51F-81D7-19E8-6DE8B39B4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548751"/>
            <a:ext cx="4486129" cy="256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54ADD-214E-A5D5-9762-68439A903130}"/>
              </a:ext>
            </a:extLst>
          </p:cNvPr>
          <p:cNvSpPr txBox="1"/>
          <p:nvPr/>
        </p:nvSpPr>
        <p:spPr>
          <a:xfrm>
            <a:off x="1564439" y="1905726"/>
            <a:ext cx="9063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Simulating QED Effects of e+e- collisions using WarpX: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C7D17-B9A3-911D-9FA0-7BAC230CD8B8}"/>
              </a:ext>
            </a:extLst>
          </p:cNvPr>
          <p:cNvSpPr txBox="1"/>
          <p:nvPr/>
        </p:nvSpPr>
        <p:spPr>
          <a:xfrm>
            <a:off x="1773912" y="3351989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QED Effects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46146-1AAD-6BCF-2EC3-877C7B9DBF66}"/>
              </a:ext>
            </a:extLst>
          </p:cNvPr>
          <p:cNvSpPr txBox="1"/>
          <p:nvPr/>
        </p:nvSpPr>
        <p:spPr>
          <a:xfrm>
            <a:off x="7162800" y="3378341"/>
            <a:ext cx="197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QED Effects</a:t>
            </a:r>
          </a:p>
        </p:txBody>
      </p:sp>
    </p:spTree>
    <p:extLst>
      <p:ext uri="{BB962C8B-B14F-4D97-AF65-F5344CB8AC3E}">
        <p14:creationId xmlns:p14="http://schemas.microsoft.com/office/powerpoint/2010/main" val="311984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B3031D-8870-4CFB-7362-5F6E5150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Performance Cont’d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CD2641F-38BC-D8DC-FF64-A0B60668A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39" y="3504394"/>
            <a:ext cx="4668661" cy="266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6894EE4-ABFB-9104-018C-113D648E5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591" y="3599351"/>
            <a:ext cx="4445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E84E4-D0B9-0E21-B7E7-EFE308CF7CBB}"/>
              </a:ext>
            </a:extLst>
          </p:cNvPr>
          <p:cNvSpPr txBox="1"/>
          <p:nvPr/>
        </p:nvSpPr>
        <p:spPr>
          <a:xfrm>
            <a:off x="1564439" y="1920146"/>
            <a:ext cx="906312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Simulating QED Effects of e+e- collisions using WarpX: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4F388-2164-D30D-096C-96AE615ED2F1}"/>
              </a:ext>
            </a:extLst>
          </p:cNvPr>
          <p:cNvSpPr txBox="1"/>
          <p:nvPr/>
        </p:nvSpPr>
        <p:spPr>
          <a:xfrm>
            <a:off x="1577691" y="335360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Photon Spread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66545-237F-526D-041D-8829F409900E}"/>
              </a:ext>
            </a:extLst>
          </p:cNvPr>
          <p:cNvSpPr txBox="1"/>
          <p:nvPr/>
        </p:nvSpPr>
        <p:spPr>
          <a:xfrm>
            <a:off x="7162800" y="3434563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e-e+ Pair-Production</a:t>
            </a:r>
          </a:p>
        </p:txBody>
      </p:sp>
    </p:spTree>
    <p:extLst>
      <p:ext uri="{BB962C8B-B14F-4D97-AF65-F5344CB8AC3E}">
        <p14:creationId xmlns:p14="http://schemas.microsoft.com/office/powerpoint/2010/main" val="356397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D1AB15-8AF5-24C4-1E19-023DECCC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looked at what an e-e+ collider is and its significance to the field of HEP</a:t>
            </a:r>
          </a:p>
          <a:p>
            <a:r>
              <a:rPr lang="en-US" dirty="0"/>
              <a:t>We addressed why a collider with a 10TeV COM energy could be important for the research and study of particle interactions, as well as the potential to discover new particles in this higher region of energy</a:t>
            </a:r>
          </a:p>
          <a:p>
            <a:r>
              <a:rPr lang="en-US" dirty="0"/>
              <a:t>We attempted to understand luminosity and how the performance of a machine can be determined by such a property</a:t>
            </a:r>
          </a:p>
          <a:p>
            <a:r>
              <a:rPr lang="en-US" dirty="0"/>
              <a:t>We addressed the QED effects that e- and e+ beams may experience as they accelerate and eventually collide</a:t>
            </a:r>
          </a:p>
          <a:p>
            <a:r>
              <a:rPr lang="en-US" dirty="0"/>
              <a:t>Lastly we observed how WarpX can simulate these effects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C5673-7007-9C95-E184-4D1F0757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97522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86F2-5BBB-389B-7860-2CE1B3B4A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3124200"/>
            <a:ext cx="10566400" cy="1219200"/>
          </a:xfrm>
        </p:spPr>
        <p:txBody>
          <a:bodyPr/>
          <a:lstStyle/>
          <a:p>
            <a:r>
              <a:rPr lang="en-US" dirty="0"/>
              <a:t>Thank you to the following: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F4EC1-C09B-D631-744B-3A7D39334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4648200"/>
            <a:ext cx="8737600" cy="804862"/>
          </a:xfrm>
        </p:spPr>
        <p:txBody>
          <a:bodyPr/>
          <a:lstStyle/>
          <a:p>
            <a:r>
              <a:rPr lang="en-US" dirty="0"/>
              <a:t>Dr. Piot | Dr. </a:t>
            </a:r>
            <a:r>
              <a:rPr lang="en-US" dirty="0" err="1"/>
              <a:t>Chmaissem</a:t>
            </a:r>
            <a:r>
              <a:rPr lang="en-US" dirty="0"/>
              <a:t> | Phys 498 Peers</a:t>
            </a:r>
          </a:p>
        </p:txBody>
      </p:sp>
    </p:spTree>
    <p:extLst>
      <p:ext uri="{BB962C8B-B14F-4D97-AF65-F5344CB8AC3E}">
        <p14:creationId xmlns:p14="http://schemas.microsoft.com/office/powerpoint/2010/main" val="575312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5204</TotalTime>
  <Words>418</Words>
  <Application>Microsoft Macintosh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Cambria Math</vt:lpstr>
      <vt:lpstr>Calibri</vt:lpstr>
      <vt:lpstr>Arial</vt:lpstr>
      <vt:lpstr>1_Office Theme</vt:lpstr>
      <vt:lpstr>QED Effects in Multi-TeV Scale e+e- Collisions</vt:lpstr>
      <vt:lpstr>Main Objectives</vt:lpstr>
      <vt:lpstr>What is an e+e- collider?</vt:lpstr>
      <vt:lpstr>ALIC--&gt; photo of ALIC!!!!!</vt:lpstr>
      <vt:lpstr>Measuring Performance</vt:lpstr>
      <vt:lpstr>Beam-Beam Effects</vt:lpstr>
      <vt:lpstr>Simulating Performance</vt:lpstr>
      <vt:lpstr>Simulating Performance Cont’d</vt:lpstr>
      <vt:lpstr>Conclusion</vt:lpstr>
      <vt:lpstr>Thank you to the following: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Jennice O'Brien</dc:creator>
  <cp:lastModifiedBy>Ryan Saelens</cp:lastModifiedBy>
  <cp:revision>105</cp:revision>
  <dcterms:created xsi:type="dcterms:W3CDTF">2010-05-18T23:17:18Z</dcterms:created>
  <dcterms:modified xsi:type="dcterms:W3CDTF">2024-04-22T17:15:04Z</dcterms:modified>
</cp:coreProperties>
</file>